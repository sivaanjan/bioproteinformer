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F7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4F72"/>
                </a:solidFill>
                <a:latin typeface="Arial"/>
              </a:rPr>
              <a:t>5-Way K-Shot Accuracy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★ BioProteinFormer</c:v>
                </c:pt>
              </c:strCache>
            </c:strRef>
          </c:tx>
          <c:spPr>
            <a:solidFill>
              <a:srgbClr val="F4A261"/>
            </a:solidFill>
            <a:ln w="31750" cap="flat">
              <a:solidFill>
                <a:srgbClr val="F4A2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K=1</c:v>
                  </c:pt>
                  <c:pt idx="1">
                    <c:v>K=3</c:v>
                  </c:pt>
                  <c:pt idx="2">
                    <c:v>K=5</c:v>
                  </c:pt>
                  <c:pt idx="3">
                    <c:v>K=10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55.2</c:v>
                </c:pt>
                <c:pt idx="1">
                  <c:v>68.8</c:v>
                </c:pt>
                <c:pt idx="2">
                  <c:v>74.6</c:v>
                </c:pt>
                <c:pt idx="3">
                  <c:v>79.9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ResNet-1D</c:v>
                </c:pt>
              </c:strCache>
            </c:strRef>
          </c:tx>
          <c:spPr>
            <a:solidFill>
              <a:srgbClr val="1B4F72"/>
            </a:solidFill>
            <a:ln w="31750" cap="flat">
              <a:solidFill>
                <a:srgbClr val="1B4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F72"/>
              </a:solidFill>
              <a:ln w="9525" cap="flat">
                <a:solidFill>
                  <a:srgbClr val="1B4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K=1</c:v>
                  </c:pt>
                  <c:pt idx="1">
                    <c:v>K=3</c:v>
                  </c:pt>
                  <c:pt idx="2">
                    <c:v>K=5</c:v>
                  </c:pt>
                  <c:pt idx="3">
                    <c:v>K=10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52.4</c:v>
                </c:pt>
                <c:pt idx="1">
                  <c:v>65.1</c:v>
                </c:pt>
                <c:pt idx="2">
                  <c:v>70.9</c:v>
                </c:pt>
                <c:pt idx="3">
                  <c:v>76.2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SE-CNN</c:v>
                </c:pt>
              </c:strCache>
            </c:strRef>
          </c:tx>
          <c:spPr>
            <a:solidFill>
              <a:srgbClr val="0E7C7B"/>
            </a:solidFill>
            <a:ln w="3175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K=1</c:v>
                  </c:pt>
                  <c:pt idx="1">
                    <c:v>K=3</c:v>
                  </c:pt>
                  <c:pt idx="2">
                    <c:v>K=5</c:v>
                  </c:pt>
                  <c:pt idx="3">
                    <c:v>K=10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51.8</c:v>
                </c:pt>
                <c:pt idx="1">
                  <c:v>64.4</c:v>
                </c:pt>
                <c:pt idx="2">
                  <c:v>70.1</c:v>
                </c:pt>
                <c:pt idx="3">
                  <c:v>75.6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BiLSTM</c:v>
                </c:pt>
              </c:strCache>
            </c:strRef>
          </c:tx>
          <c:spPr>
            <a:solidFill>
              <a:srgbClr val="64748B"/>
            </a:solidFill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K=1</c:v>
                  </c:pt>
                  <c:pt idx="1">
                    <c:v>K=3</c:v>
                  </c:pt>
                  <c:pt idx="2">
                    <c:v>K=5</c:v>
                  </c:pt>
                  <c:pt idx="3">
                    <c:v>K=10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48.6</c:v>
                </c:pt>
                <c:pt idx="1">
                  <c:v>61</c:v>
                </c:pt>
                <c:pt idx="2">
                  <c:v>66.5</c:v>
                </c:pt>
                <c:pt idx="3">
                  <c:v>71.7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Simple CNN</c:v>
                </c:pt>
              </c:strCache>
            </c:strRef>
          </c:tx>
          <c:spPr>
            <a:solidFill>
              <a:srgbClr val="DC2626"/>
            </a:solidFill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K=1</c:v>
                  </c:pt>
                  <c:pt idx="1">
                    <c:v>K=3</c:v>
                  </c:pt>
                  <c:pt idx="2">
                    <c:v>K=5</c:v>
                  </c:pt>
                  <c:pt idx="3">
                    <c:v>K=10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38.2</c:v>
                </c:pt>
                <c:pt idx="1">
                  <c:v>48.8</c:v>
                </c:pt>
                <c:pt idx="2">
                  <c:v>53.4</c:v>
                </c:pt>
                <c:pt idx="3">
                  <c:v>58.6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4F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Simple CNN</c:v>
                  </c:pt>
                  <c:pt idx="1">
                    <c:v>DPCNN</c:v>
                  </c:pt>
                  <c:pt idx="2">
                    <c:v>TextCNN</c:v>
                  </c:pt>
                  <c:pt idx="3">
                    <c:v>BiLSTM</c:v>
                  </c:pt>
                  <c:pt idx="4">
                    <c:v>GRU+Attn</c:v>
                  </c:pt>
                  <c:pt idx="5">
                    <c:v>Dilated CNN</c:v>
                  </c:pt>
                  <c:pt idx="6">
                    <c:v>Deep CNN</c:v>
                  </c:pt>
                  <c:pt idx="7">
                    <c:v>CNN-BiLSTM</c:v>
                  </c:pt>
                  <c:pt idx="8">
                    <c:v>SE-CNN</c:v>
                  </c:pt>
                  <c:pt idx="9">
                    <c:v>ResNet-1D</c:v>
                  </c:pt>
                  <c:pt idx="10">
                    <c:v>★ BioProteinFormer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78.34</c:v>
                </c:pt>
                <c:pt idx="1">
                  <c:v>82.88</c:v>
                </c:pt>
                <c:pt idx="2">
                  <c:v>83.67</c:v>
                </c:pt>
                <c:pt idx="3">
                  <c:v>84.93</c:v>
                </c:pt>
                <c:pt idx="4">
                  <c:v>85.21</c:v>
                </c:pt>
                <c:pt idx="5">
                  <c:v>85.76</c:v>
                </c:pt>
                <c:pt idx="6">
                  <c:v>85.92</c:v>
                </c:pt>
                <c:pt idx="7">
                  <c:v>86.44</c:v>
                </c:pt>
                <c:pt idx="8">
                  <c:v>86.85</c:v>
                </c:pt>
                <c:pt idx="9">
                  <c:v>87.21</c:v>
                </c:pt>
                <c:pt idx="10">
                  <c:v>89.4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4F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"/>
          <c:min val="7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4F7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4F72"/>
                </a:solidFill>
                <a:latin typeface="Arial"/>
              </a:rPr>
              <a:t>Drop in Accuracy (%) when Component Removed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Drop in K=5 FSL Accuracy (pp)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4F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Bigram channel</c:v>
                  </c:pt>
                  <c:pt idx="1">
                    <c:v>Label smoothing</c:v>
                  </c:pt>
                  <c:pt idx="2">
                    <c:v>CosFace vs ArcFace</c:v>
                  </c:pt>
                  <c:pt idx="3">
                    <c:v>GAP-only pooling</c:v>
                  </c:pt>
                  <c:pt idx="4">
                    <c:v>Self-Attention</c:v>
                  </c:pt>
                  <c:pt idx="5">
                    <c:v>SE Attention</c:v>
                  </c:pt>
                  <c:pt idx="6">
                    <c:v>Physchem channels</c:v>
                  </c:pt>
                  <c:pt idx="7">
                    <c:v>ArcFace loss</c:v>
                  </c:pt>
                  <c:pt idx="8">
                    <c:v>Dilated CNN tower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0.55</c:v>
                </c:pt>
                <c:pt idx="1">
                  <c:v>0.62</c:v>
                </c:pt>
                <c:pt idx="2">
                  <c:v>0.74</c:v>
                </c:pt>
                <c:pt idx="3">
                  <c:v>1.45</c:v>
                </c:pt>
                <c:pt idx="4">
                  <c:v>1.67</c:v>
                </c:pt>
                <c:pt idx="5">
                  <c:v>2.42</c:v>
                </c:pt>
                <c:pt idx="6">
                  <c:v>4.32</c:v>
                </c:pt>
                <c:pt idx="7">
                  <c:v>6.24</c:v>
                </c:pt>
                <c:pt idx="8">
                  <c:v>6.73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4F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3200400" cy="32004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UNIVERSITY AP  ·  DEEP LEARNING CSE 457  ·  APRIL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BioProteinFormer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Dilated Residual Transformer with ArcFace Loss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Few-Shot Protein Family Classification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45720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29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Thota Siva Anjan Kumar</a:t>
            </a:r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Medisetty Naga Satya Sai Phanirudh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Dr. Satya Krishna Nunna  ·  Dept. of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Learn Today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50292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Protein?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527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tiny machines inside our body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83080"/>
            <a:ext cx="50292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745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8288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Problem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1671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examples to learn from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50292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– BioProteinFormer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0815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AI model we built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11880"/>
            <a:ext cx="50292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033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657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9959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 inside the AI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8686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868680"/>
            <a:ext cx="50292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9601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914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Scores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12527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did it perform?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7830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783080"/>
            <a:ext cx="50292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8745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18288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Discovered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1671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– what matters most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6974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697480"/>
            <a:ext cx="50292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4068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0815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future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E7C7B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Protein?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tiny machines inside our body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Proteins – The Tiny Workers Inside You 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proteins like LEGO buildings — made of small pieces called amino acids!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 (Hydrolase, Ligase)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8745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scissors — they cut, join, or transform things in the body. E.g. your stomach uses enzymes to digest food!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3168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0" y="1508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 Proteins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8745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messengers — they carry important signals. E.g. insulin tells your cells to absorb sugar.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88720" y="3108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Proteins (Antibodies)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474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security guards — they find and fight germs &amp; viruses that enter your body.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73168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🚪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86400" y="3108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Proteins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474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gatekeepers on cell walls — they decide what goes in and what stays out.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Amino Acids – The ABCs of Proteins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20 different amino acids — like 20 different LEGO bricks.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in which they are joined determines what the protein does.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5506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16152" y="160020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65506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66544" y="160020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6544" y="165506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16936" y="160020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16936" y="165506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67328" y="160020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165506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17720" y="160020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65506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68112" y="160020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165506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18504" y="160020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165506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168896" y="160020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68896" y="165506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19288" y="160020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19288" y="165506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65760" y="237744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43230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16152" y="237744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6152" y="243230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066544" y="237744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66544" y="243230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916936" y="237744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16936" y="243230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767328" y="237744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243230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617720" y="237744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43230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468112" y="237744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68112" y="243230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318504" y="237744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A04000"/>
          </a:solidFill>
          <a:ln w="12700">
            <a:solidFill>
              <a:srgbClr val="A04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8504" y="243230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168896" y="237744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68896" y="243230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019288" y="2377440"/>
            <a:ext cx="713232" cy="594360"/>
          </a:xfrm>
          <a:prstGeom prst="roundRect">
            <a:avLst>
              <a:gd name="adj" fmla="val 12308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19288" y="2432304"/>
            <a:ext cx="713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65760" y="32461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A protein is just a LONG chain of these! E.g.: ACDEFGHIKLMNPQRSTVWY...ACGILT...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65760" y="37490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protein has 300 – 500 amino acids in a specific order. That sequence IS the protein's identity.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Scientists Need to Classify Proteins?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know which FAMILY a new protein belongs to, we immediately know a LOT about what it does — saving years of lab work!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411480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96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Drug Discovery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which proteins are targets for new medicines. Knowing a protein's family helps scientists design drugs faster.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1148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411480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996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Understanding Diseases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9659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diseases happen when proteins misbehave. Classifying them helps us understand WHY.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1148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08960"/>
            <a:ext cx="411480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455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Evolution Studies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how the same protein changed over millions of years across different animals.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1148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108960"/>
            <a:ext cx="411480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1455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Automation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611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250 MILLION known protein sequences but only 600K have been studied in labs. AI can help fill the gap!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E7C7B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examples to learn from — data scarcity in protein science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Too Few Examples! 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Imagine Teaching a Child...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recognize a DOG, we show them 1000 pictures.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for a RARE ANIMAL they've never seen?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might only see 5–10 examples.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problem with RARE PROTEIN FAMILIES.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069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868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The Real Numbers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250M+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80060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protein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&lt;600K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12648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5236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&lt;20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4523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rare families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74320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needs HUNDREDS of examples per class. But rare protein families have almost NONE.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3383280"/>
            <a:ext cx="3657600" cy="1188720"/>
          </a:xfrm>
          <a:prstGeom prst="rect">
            <a:avLst/>
          </a:prstGeom>
          <a:solidFill>
            <a:srgbClr val="FFF3CD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42900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Solution: FEW-SHOT LEARNING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learn from just 1 to 10 examples!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Learning — Learning from Very Few Examples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AI needs 1000s of examples. Few-Shot AI can recognize new things from just 1–10 examples!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481328"/>
            <a:ext cx="685800" cy="6858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50876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9768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78892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MANY examples of KNOWN protein families. The AI learns what makes each family special — like learning ABC first.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C7B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481328"/>
            <a:ext cx="685800" cy="6858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50876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55848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Support 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278892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NEW family, give only 1–10 examples (called 'support set'). These are the 'hints'.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C7B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72200" y="141732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1481328"/>
            <a:ext cx="685800" cy="6858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50876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81928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Queries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81928" y="278892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now tries to classify NEW unknown proteins by comparing them to the support set hints. If it looks like a HYDROLASE → it is one!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our project: N=5 protein families, K = 1 to 10 support examples per family, 100 episodes per test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E7C7B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 — BioProteinFormer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compact, purpose-built AI model for few-shot protein classification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Dataset — 12 Protein Families from RCSB PDB 🗄️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downloaded 6,000 real protein sequences from the world's biggest protein database (RCSB PDB) — like a giant library of proteins!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292608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43560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chemical bonds using water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1389888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389888"/>
            <a:ext cx="292608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5544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0168" y="143560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0168" y="1792224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chemical groups between molecules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8776" y="1389888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389888"/>
            <a:ext cx="292608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5544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74536" y="143560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OXIDOREDUCTASE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74536" y="1792224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energy reactions (oxidation)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276856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276856"/>
            <a:ext cx="292608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2322576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SYSTEM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2679192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Fights germs (antibodies)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64408" y="2276856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276856"/>
            <a:ext cx="292608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2441448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30168" y="2322576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30168" y="2679192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bonds without water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08776" y="2276856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8776" y="2276856"/>
            <a:ext cx="292608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2441448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74536" y="2322576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74536" y="2679192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gene expression (DNA reading)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163824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163824"/>
            <a:ext cx="292608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328416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" y="3209544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 PROTEIN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3566160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cell signals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64408" y="3163824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64408" y="3163824"/>
            <a:ext cx="292608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64408" y="3328416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30168" y="3209544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PROTEIN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30168" y="3566160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molecules across membranes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08776" y="3163824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08776" y="3163824"/>
            <a:ext cx="292608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08776" y="3328416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74536" y="3209544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PROTEIN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74536" y="3566160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viruses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040" y="4050792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" y="4050792"/>
            <a:ext cx="292608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215384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5800" y="4096512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ISOMERASE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5800" y="445312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molecules to different shapes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64408" y="4050792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64408" y="4050792"/>
            <a:ext cx="292608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64408" y="4215384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630168" y="4096512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LIGASE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630168" y="445312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two molecules using energy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08776" y="4050792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208776" y="4050792"/>
            <a:ext cx="292608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08776" y="4215384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574536" y="4096512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PROTEIN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574536" y="445312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in/on the cell wall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20040" y="4773168"/>
            <a:ext cx="8503920" cy="301752"/>
          </a:xfrm>
          <a:prstGeom prst="rect">
            <a:avLst/>
          </a:prstGeom>
          <a:solidFill>
            <a:srgbClr val="0E7C7B">
              <a:alpha val="1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79145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≈500 sequences per family  ·  Total: 6,000 sequences  ·  All proteins: 40–1024 amino acids long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E7C7B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BioProteinFormer Works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 — ingredients and cooking steps of our AI model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Reading the Protein Sequence (3 Input Channels)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AI can understand a protein, we give it 3 types of information about EACH amino acid position: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78892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99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9385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Embedding (32 numbers)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2395728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giving each amino acid a unique ID card with 32 numbers that describe its identity. The AI learns these numbers during training!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4069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📇 Analogy: Each of 20 amino acids gets a unique name-tag.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37160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371600"/>
            <a:ext cx="278892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399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74136" y="19385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Physicochemical Features (7 numbers)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74136" y="2395728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chemical properties of each amino acid: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Hydrophobicity (does it like water?)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Charge (positive or negative?)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 &amp; Weight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Aromaticity (special ring shape?)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Beta-sheet tendency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74136" y="4069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Analogy: Like measuring a person's height, weight, hair colour, eye colour...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137160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1371600"/>
            <a:ext cx="278892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399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18504" y="19385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Log-Odds (1 number)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18504" y="2395728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two amino acids appearing NEXT TO EACH OTHER is common or rare. E.g. Cys-Cys is common in immune proteins (they form disulfide bonds).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18504" y="4069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Analogy: Like knowing which words often appear together in sentences.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892040"/>
            <a:ext cx="8503920" cy="219456"/>
          </a:xfrm>
          <a:prstGeom prst="rect">
            <a:avLst/>
          </a:prstGeom>
          <a:solidFill>
            <a:srgbClr val="1B4F72">
              <a:alpha val="12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0118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channels are combined (concatenated) → 40 numbers per amino acid position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BioProteinFormer Architecture — The Full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" y="1417320"/>
            <a:ext cx="1280160" cy="1188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149047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" y="21671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tokens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89888" y="17830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91056" y="1417320"/>
            <a:ext cx="1280160" cy="1188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91056" y="149047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Channels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91056" y="21671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numbers/pos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71216" y="17830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72384" y="1417320"/>
            <a:ext cx="1097280" cy="118872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149047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72384" y="21671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128-dim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69664" y="17830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70832" y="1417320"/>
            <a:ext cx="1280160" cy="1188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49047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Tower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70832" y="21671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layers, RF=126AA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50992" y="17830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1417320"/>
            <a:ext cx="1097280" cy="1188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49047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Channel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21671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9440" y="17830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50608" y="1417320"/>
            <a:ext cx="1280160" cy="118872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149047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50608" y="21671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heads, global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30768" y="17830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631936" y="1417320"/>
            <a:ext cx="1097280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31936" y="149047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L2 Norm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31936" y="21671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256-dim embed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2834640"/>
            <a:ext cx="3840480" cy="1417320"/>
          </a:xfrm>
          <a:prstGeom prst="rect">
            <a:avLst/>
          </a:prstGeom>
          <a:solidFill>
            <a:srgbClr val="1B4F72">
              <a:alpha val="10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ArcFace Loss (Training)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3246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ArcFace pushes proteins of the SAME family CLOSE together and proteins of DIFFERENT families FAR apart on an imaginary ball (unit hypersphere).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2834640"/>
            <a:ext cx="3886200" cy="1417320"/>
          </a:xfrm>
          <a:prstGeom prst="rect">
            <a:avLst/>
          </a:prstGeom>
          <a:solidFill>
            <a:srgbClr val="0E7C7B">
              <a:alpha val="1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Prototypical Matching (Testing)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74920" y="3246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test time, compute the AVERAGE embedding of support examples → that is the 'prototype'. Classify new query by finding the NEAREST prototype.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Dilated CNN Tower — Seeing Near &amp; Far Simultaneously 👁️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 CNN only looks at a tiny window. Our DILATED CNN skips positions to look at a BIGGER picture — without adding more parameters!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1097280" cy="59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9616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(dilation=1)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4996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reach: 3 amino acids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48256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48256"/>
            <a:ext cx="1645920" cy="59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57984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(dilation=2)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21579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reach: 5 amino acids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06624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06624"/>
            <a:ext cx="219456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163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(dilation=4)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2816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reach: 9 amino acids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64992"/>
            <a:ext cx="274320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74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 (dilation=8)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reach: 17 amino acids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023360"/>
            <a:ext cx="347472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330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 (dilation=16)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41330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reach: 33 amino acids → total 63!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Combined receptive field = 63 amino acid positions → enough to capture alpha helices, active sites &amp; binding loops!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ArcFace Loss — Making the AI Extra Strict! 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What is ArcFace?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Normally, AI learns to tell things apart.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goes one step FURTHER: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puts all protein embeddings on a 'ball' (hypersphere)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adds an extra ANGULAR GAP (margin) between classes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Proteins of the same family must be very CLOSE together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Proteins of different families must be far APART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0690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868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🍊  The Orange Peel Analogy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37160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an orange (the hypersphere).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of the orange = one protein family.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makes each section as WIDE and SEPARATED as possible.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protein comes in, we check which 'section' it lands closest to → that's its family!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(m = 0.5 radians ≈ 28.6°) forces an extra gap between sections.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5074920"/>
            <a:ext cx="8503920" cy="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E7C7B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Performance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did BioProteinFormer do compared to 10 other models?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Classification Results — All 11 Models Compared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11 models on 1,200 protein sequences (12 families). BioProteinFormer wins! 🏆</a:t>
            </a:r>
            <a:endParaRPr lang="en-US" sz="13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503920" cy="3703320"/>
        </p:xfrm>
        <a:graphic>
          <a:graphicData uri="http://schemas.openxmlformats.org/drawingml/2006/table">
            <a:tbl>
              <a:tblPr/>
              <a:tblGrid>
                <a:gridCol w="594360"/>
                <a:gridCol w="2377440"/>
                <a:gridCol w="1371600"/>
                <a:gridCol w="1371600"/>
                <a:gridCol w="26517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BioProteinFormer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Model! 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SE-CNN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CNN-BiLSTM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Dilated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GRU+Attention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Weakest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95604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BioProteinFormer beats the best baseline by +2.2% and the weakest by +11.1 percentage points!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Results — Learning from Just 1–10 Examples!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5-way K-shot accuracy: Can the AI guess the right protein family when given only K examples per family? (Chance = 20%)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8503920" cy="356616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  <a:gridCol w="146304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BioProteinFormer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SE-CNN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CNN-BiLSTM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Dilated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GRU+Attn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8920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At K=1 (1 example only!): BioProteinFormer gets 55.2% — that's 2.76× better than pure guessing (20%)!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Accuracy vs Number of Examples (K)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749808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749808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868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💡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26480" y="13533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BioProteinFormer leads at ALL values of 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126480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Biggest jump: K=1 to K=3 (+13.6 pp)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26480" y="24871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😮  At K=10, even Simple CNN (58.6%) is BELOW BPF's K=3 (68.8%)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26480" y="30540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BPF at K=1 is 2.76× better than random chance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126480" y="36210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More examples always help, but gains slow down (diminishing returns)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Accuracy — Visual Comparison of All 11 Models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749808"/>
          <a:ext cx="85039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8920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BioProteinFormer (gold) clearly leads all other models. The gap grows as architectures become simpler.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E7C7B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Matters Most?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— what happens when we remove each ingredient?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Study — What If We Remove One Ingredient? 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baking a pizza — what happens when you remove each ingredient? We tested this for every part of our model!</a:t>
            </a:r>
            <a:endParaRPr lang="en-US" sz="13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36576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146304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K=5 FSL 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FSL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BioProteinFormer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Dilated Tower (use 1 Conv)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−6.73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ArcFace → CrossEntropy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−6.24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Physicochemical channels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−4.32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SE Attention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−2.42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Self-Attention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−1.67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ArcFace → CosFace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−0.74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Label Smoothing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−0.62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GAP-only pooling (no max pool)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−1.45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Bigram 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−0.55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93776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= Critical  🟠 = Important  ⚫ = Minor  — Top 2 components contribute over 6 percentage points each!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— How Much Each Component Contributes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77724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777240"/>
            <a:ext cx="2377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37960" y="8869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Components 🏆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37960" y="1389888"/>
            <a:ext cx="2148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0" y="1444752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🥇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059168" y="144475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Tower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59168" y="19019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−6.73 pp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37960" y="2505456"/>
            <a:ext cx="2148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0" y="2560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🥈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059168" y="2560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059168" y="30175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−6.24 pp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37960" y="3621024"/>
            <a:ext cx="2148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83680" y="3675888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🥉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059168" y="367588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Physchem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59168" y="41330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−4.32 pp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 Space — How the AI 'Sees' Protein Families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training, BioProteinFormer creates a special map where similar proteins cluster TOGETHER and different proteins spread APART.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BioProteinFormer (Our Model) 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20040" cy="2743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103120"/>
            <a:ext cx="320040" cy="2743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645920"/>
            <a:ext cx="320040" cy="2743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194560"/>
            <a:ext cx="32004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926080"/>
            <a:ext cx="320040" cy="2743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200400"/>
            <a:ext cx="320040" cy="27432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737360"/>
            <a:ext cx="320040" cy="2743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206240"/>
            <a:ext cx="32004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931920"/>
            <a:ext cx="32004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4389120"/>
            <a:ext cx="320040" cy="2743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3474720"/>
            <a:ext cx="320040" cy="2743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4389120"/>
            <a:ext cx="320040" cy="27432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tight, separated clusters = great few-shot accuracy!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325880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 (Best Baseline) ⚠️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1920240"/>
            <a:ext cx="502920" cy="411480"/>
          </a:xfrm>
          <a:prstGeom prst="ellipse">
            <a:avLst/>
          </a:prstGeom>
          <a:solidFill>
            <a:srgbClr val="1B4F72">
              <a:alpha val="70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828800"/>
            <a:ext cx="502920" cy="411480"/>
          </a:xfrm>
          <a:prstGeom prst="ellipse">
            <a:avLst/>
          </a:prstGeom>
          <a:solidFill>
            <a:srgbClr val="0E7C7B">
              <a:alpha val="7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2103120"/>
            <a:ext cx="502920" cy="411480"/>
          </a:xfrm>
          <a:prstGeom prst="ellipse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286000"/>
            <a:ext cx="502920" cy="411480"/>
          </a:xfrm>
          <a:prstGeom prst="ellipse">
            <a:avLst/>
          </a:prstGeom>
          <a:solidFill>
            <a:srgbClr val="16A34A">
              <a:alpha val="7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743200"/>
            <a:ext cx="502920" cy="411480"/>
          </a:xfrm>
          <a:prstGeom prst="ellipse">
            <a:avLst/>
          </a:prstGeom>
          <a:solidFill>
            <a:srgbClr val="E74C3C">
              <a:alpha val="7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3017520"/>
            <a:ext cx="502920" cy="411480"/>
          </a:xfrm>
          <a:prstGeom prst="ellipse">
            <a:avLst/>
          </a:prstGeom>
          <a:solidFill>
            <a:srgbClr val="8E44AD">
              <a:alpha val="70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1920240"/>
            <a:ext cx="502920" cy="411480"/>
          </a:xfrm>
          <a:prstGeom prst="ellipse">
            <a:avLst/>
          </a:prstGeom>
          <a:solidFill>
            <a:srgbClr val="E67E22">
              <a:alpha val="7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657600"/>
            <a:ext cx="502920" cy="411480"/>
          </a:xfrm>
          <a:prstGeom prst="ellipse">
            <a:avLst/>
          </a:prstGeom>
          <a:solidFill>
            <a:srgbClr val="27AE60">
              <a:alpha val="7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3474720"/>
            <a:ext cx="502920" cy="411480"/>
          </a:xfrm>
          <a:prstGeom prst="ellipse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4114800"/>
            <a:ext cx="502920" cy="411480"/>
          </a:xfrm>
          <a:prstGeom prst="ellipse">
            <a:avLst/>
          </a:prstGeom>
          <a:solidFill>
            <a:srgbClr val="F39C12">
              <a:alpha val="7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3657600"/>
            <a:ext cx="502920" cy="411480"/>
          </a:xfrm>
          <a:prstGeom prst="ellipse">
            <a:avLst/>
          </a:prstGeom>
          <a:solidFill>
            <a:srgbClr val="1ABC9C">
              <a:alpha val="7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4389120"/>
            <a:ext cx="502920" cy="411480"/>
          </a:xfrm>
          <a:prstGeom prst="ellipse">
            <a:avLst/>
          </a:prstGeom>
          <a:solidFill>
            <a:srgbClr val="D35400">
              <a:alpha val="70000"/>
            </a:srgbClr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572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clusters = harder to classify with few examples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Protein Families are Easy vs Hard to Classify?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families are equally easy to identify. Here's what the confusion matrix tells us: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3807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PROTEIN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755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&gt;97% recall — EASIEST!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94760" y="1417320"/>
            <a:ext cx="0" cy="65836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41732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proteins have VERY distinctive hydrophobic amino acids (Leu, Val, Ile). Our physicochemical channels directly capture this. Almost never confused with anything else.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2768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HYDROLASE ↔ LIGASE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confused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94760" y="2313432"/>
            <a:ext cx="0" cy="65836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231343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share nucleotide-binding chemistry and similar active site geometries. Even human experts would struggle to tell them apart from sequence alone!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18104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3172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↔ SIGNALING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547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confused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94760" y="3209544"/>
            <a:ext cx="0" cy="65836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320954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contain DNA-binding proteins with helix-turn-helix motifs. They share structural domains, which makes sequences look similar.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014216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🟢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others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4439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 (good recall)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94760" y="4105656"/>
            <a:ext cx="0" cy="65836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410565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12-class confusion matrix shows strong diagonal dominance — meaning BioProteinFormer mostly gets it RIGHT for all families.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E7C7B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what we proved, and where to go next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We Achieve? — Key Contributions 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77824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1. Novel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BioProteinFormer from scratch — a brand-new model combining dilated CNNs + attention + ArcFace specifically for few-shot protein classification. First paper to apply ArcFace to protein embeddings!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41148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877824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2. Beat 10 Baselines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10 strong baseline models under identical conditions. BioProteinFormer wins across EVERY metric: accuracy, F1, precision, recall, and few-shot accuracy at all K values.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34640"/>
            <a:ext cx="41148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889504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3. Scientific Benchmark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reproducible 12-family RCSB PDB benchmark with 6,000 real protein sequences — others can use this benchmark to test their own models!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834640"/>
            <a:ext cx="41148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2889504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4. Ablation Insights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3832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exactly which components matter most (dilated tower + ArcFace). This is valuable knowledge for the entire research community.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773168"/>
            <a:ext cx="8503920" cy="320040"/>
          </a:xfrm>
          <a:prstGeom prst="rect">
            <a:avLst/>
          </a:prstGeom>
          <a:solidFill>
            <a:srgbClr val="0E7C7B">
              <a:alpha val="1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914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89.40% supervised accuracy  ·  79.9% at K=10 few-shot  ·  55.2% at K=1 (2.76× chance)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Directions 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1148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Current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12 protein families — real world has thousands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3D structure information used (only sequence)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compared directly to giant models (ESM-2, ProtBert) due to computing cost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Trained supervisedly — not episodic meta-training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0690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406908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04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Add ESM-2 / ProtBert features as extra channels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Train with episodic meta-learning (MAML, Prototypical Network training)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Add AlphaFold2 structure features (contact maps, secondary structure)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92040" y="3017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Transductive few-shot — use query distribution to refine prototypes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3566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Multi-label — a protein can belong to multiple families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Test on PFAM/SCOP databases with 100s of families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Picture — Summary in Simple Words 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only ONE thing from this presentation: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960120"/>
          </a:xfrm>
          <a:prstGeom prst="rect">
            <a:avLst/>
          </a:prstGeom>
          <a:solidFill>
            <a:srgbClr val="FFF9C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built a smart AI (BioProteinFormer) that can correctly identify a protein's family even when it has seen only 1–10 examples of that family — like a student who can recognize a new animal species after seeing just a few pictures!"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359152"/>
            <a:ext cx="155448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395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65960" y="2404872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protein families have too few examples for normal AI to learn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871216"/>
            <a:ext cx="155448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9077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Solution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916936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BioProteinFormer — uses 3 input channels + dilated CNN + ArcFace loss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383280"/>
            <a:ext cx="155448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41985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34290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proteins from 12 families (RCSB PDB)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895344"/>
            <a:ext cx="155448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931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Result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65960" y="3941064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89.40% accuracy (supervised), 79.9% K=10 few-shot — beats 10 baselines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407408"/>
            <a:ext cx="155448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44398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finding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65960" y="445312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Dilated CNN tower and ArcFace loss are the two most critical components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474720" cy="347472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 🙏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Thota Siva Anjan Kumar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(anjan_thota@srmap.edu.in)
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Medisetty Naga Satya Sai Phanirudh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(phanirudh_medisetty@srmap.edu.in)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Dr. Satya Krishna Nunna  ·  SRM University AP  ·  Dept. of Data Science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Deng et al. (2019) — ArcFace Loss [CVPR]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Snell et al. (2017) — Prototypical Networks [NeurIPS]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Berman et al. (2000) — RCSB Protein Data Bank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 et al. (2023) — ESM-2 Protein Language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 et al. (2018) — Squeeze-and-Excitation Networks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Vaswani et al. (2017) — Attention Is All You Need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BioProteinFormer</dc:title>
  <dc:subject>PptxGenJS Presentation</dc:subject>
  <dc:creator>Thota Siva Anjan Kumar &amp; Medisetty Naga Satya Sai Phanirudh</dc:creator>
  <cp:lastModifiedBy>Thota Siva Anjan Kumar &amp; Medisetty Naga Satya Sai Phanirudh</cp:lastModifiedBy>
  <cp:revision>1</cp:revision>
  <dcterms:created xsi:type="dcterms:W3CDTF">2026-04-25T08:20:04Z</dcterms:created>
  <dcterms:modified xsi:type="dcterms:W3CDTF">2026-04-25T08:20:04Z</dcterms:modified>
</cp:coreProperties>
</file>